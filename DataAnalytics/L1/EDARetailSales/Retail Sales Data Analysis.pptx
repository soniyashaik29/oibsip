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</ns0:sldIdLst>
  <ns0:sldSz cx="12192000" cy="6858000" type="screen4x3"/>
  <ns0:notesSz cx="6858000" cy="9144000"/>
  <ns0:embeddedFontLst>
    <ns0:embeddedFont>
      <ns0:font typeface="Plus Jakarta Sans"/>
      <ns0:bold ns1:id="rIdFont14"/>
      <ns0:regular ns1:id="rIdFont15"/>
    </ns0:embeddedFont>
    <ns0:embeddedFont>
      <ns0:font typeface="Space Grotesk"/>
      <ns0:bold ns1:id="rIdFont16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Font14" Type="http://schemas.openxmlformats.org/officeDocument/2006/relationships/font" Target="fonts/e0cf826b-c3b1-431c-8571-b85725ff244b.fntdata" /><ns0:Relationship Id="rIdFont15" Type="http://schemas.openxmlformats.org/officeDocument/2006/relationships/font" Target="fonts/fecf164e-e72b-4029-98e5-5b2469fd4e4f.fntdata" /><ns0:Relationship Id="rIdFont16" Type="http://schemas.openxmlformats.org/officeDocument/2006/relationships/font" Target="fonts/ebb0c9a6-1353-4c4f-9791-77a90e766190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629275"/>
            <a:ext cx="10972800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511772"/>
            <a:ext cx="8572500" cy="586680"/>
          </a:xfrm>
          <a:prstGeom prst="rect">
            <a:avLst/>
          </a:prstGeom>
          <a:solidFill>
            <a:srgbClr val="CA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629275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6381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29850" y="609600"/>
            <a:ext cx="1690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PYTHON EDA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511772"/>
            <a:ext cx="11251406" cy="586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b="1" sz="4200" i="0" u="none">
                <a:solidFill>
                  <a:srgbClr val="0F172A"/>
                </a:solidFill>
                <a:latin typeface="Plus Jakarta Sans"/>
              </a:rPr>
              <a:t>Retail Sales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327052"/>
            <a:ext cx="6953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Evaluating Customer Segments, Product Categories, Regional Trends, and Shipping Durations to Drive Data-Driven Decision Making.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609600"/>
            <a:ext cx="4310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Space Grotesk"/>
              </a:rPr>
              <a:t>DATA ANALYTICS // EXPLORATORY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867400"/>
            <a:ext cx="229790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48375"/>
            <a:ext cx="22979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Superstore Sales 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5125" y="5867400"/>
            <a:ext cx="329803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5125" y="6048375"/>
            <a:ext cx="32980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Pandas, NumPy, Matplotlib, Seaborn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0750" y="5867400"/>
            <a:ext cx="288131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METHODOLOGY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0750" y="6048375"/>
            <a:ext cx="2881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Exploratory Data Analysis (EDA)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597348"/>
            <a:ext cx="5257800" cy="12573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045148"/>
            <a:ext cx="5257800" cy="10572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597348"/>
            <a:ext cx="38100" cy="12573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045148"/>
            <a:ext cx="38100" cy="10572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135385"/>
            <a:ext cx="5257800" cy="3429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135385"/>
            <a:ext cx="5257800" cy="3429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286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Project Context &amp; Analytic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787848"/>
            <a:ext cx="635079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Business 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064073"/>
            <a:ext cx="49339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Understand sales drivers across regional markets and product categories while discovering operational bottlenecks in order fulfillment.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235648"/>
            <a:ext cx="635079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Data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511873"/>
            <a:ext cx="49339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Analyzed transaction-level records covering Order Dates, Customer Segments, Regional Geography, Categories, and Shipping Modes.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02173"/>
            <a:ext cx="2443162" cy="1495425"/>
          </a:xfrm>
          <a:prstGeom prst="roundRect">
            <a:avLst>
              <a:gd name="adj" fmla="val 89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52812" y="3102173"/>
            <a:ext cx="2443162" cy="1495425"/>
          </a:xfrm>
          <a:prstGeom prst="roundRect">
            <a:avLst>
              <a:gd name="adj" fmla="val 89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96025" y="3102173"/>
            <a:ext cx="2443162" cy="1495425"/>
          </a:xfrm>
          <a:prstGeom prst="roundRect">
            <a:avLst>
              <a:gd name="adj" fmla="val 89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39237" y="3102173"/>
            <a:ext cx="2443162" cy="1495425"/>
          </a:xfrm>
          <a:prstGeom prst="roundRect">
            <a:avLst>
              <a:gd name="adj" fmla="val 89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7725" y="3340298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90937" y="3340298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34150" y="3340298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77362" y="3340298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162" y="3773685"/>
            <a:ext cx="952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375" y="3773685"/>
            <a:ext cx="952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1587" y="3773685"/>
            <a:ext cx="9525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286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End-to-End Analysis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850" y="3340298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125" i="0" u="none">
                <a:solidFill>
                  <a:srgbClr val="0284C7"/>
                </a:solidFill>
                <a:latin typeface="Plus Jakarta San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797498"/>
            <a:ext cx="258157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Data Cleaning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4054673"/>
            <a:ext cx="206216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Missing-value checks, duplicate removal, type casting.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8062" y="3340298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125" i="0" u="none">
                <a:solidFill>
                  <a:srgbClr val="0284C7"/>
                </a:solidFill>
                <a:latin typeface="Plus Jakarta San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90937" y="3797498"/>
            <a:ext cx="258157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Feature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90937" y="4054673"/>
            <a:ext cx="206216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Derived shipping duration from Order and Ship dates.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275" y="3340298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125" i="0" u="none">
                <a:solidFill>
                  <a:srgbClr val="0284C7"/>
                </a:solidFill>
                <a:latin typeface="Plus Jakarta San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4150" y="3797498"/>
            <a:ext cx="258157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Exploratory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4150" y="4054673"/>
            <a:ext cx="206216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Aggregated sales across segments, regions, categories.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4487" y="3340298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125" i="0" u="none">
                <a:solidFill>
                  <a:srgbClr val="0284C7"/>
                </a:solidFill>
                <a:latin typeface="Plus Jakarta San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7362" y="3797498"/>
            <a:ext cx="258157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Visual Insights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7362" y="4054673"/>
            <a:ext cx="206216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Generated heatmaps, revenue charts, and delivery trends.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78360"/>
            <a:ext cx="3505200" cy="154305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78360"/>
            <a:ext cx="3505200" cy="154305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97423"/>
            <a:ext cx="3505200" cy="1304925"/>
          </a:xfrm>
          <a:prstGeom prst="roundRect">
            <a:avLst>
              <a:gd name="adj" fmla="val 875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286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Key Performance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392685"/>
            <a:ext cx="312039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Product &amp; Category Concentration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945135"/>
            <a:ext cx="2971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Technology and Furniture lead total sales volume.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7725" y="3392685"/>
            <a:ext cx="312039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Geographic &amp; Segment Variance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7725" y="3945135"/>
            <a:ext cx="2971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Consumer segment generates highest total order volume.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1525" y="3511748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Fulfillment &amp; Shipping Speed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1525" y="3826073"/>
            <a:ext cx="2971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Standard Class shipping averages longest processing delays.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92610"/>
            <a:ext cx="5372100" cy="942975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792610"/>
            <a:ext cx="5372100" cy="942975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64185"/>
            <a:ext cx="5372100" cy="942975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3964185"/>
            <a:ext cx="5372100" cy="942975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286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Prescriptive 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030735"/>
            <a:ext cx="642580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Plus Jakarta Sans"/>
              </a:rPr>
              <a:t>Inventory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326010"/>
            <a:ext cx="6119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Prioritize high-revenue categories to eliminate stockouts.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8425" y="3030735"/>
            <a:ext cx="5743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Targeted Segment Marketing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8425" y="3326010"/>
            <a:ext cx="57435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Focus campaigns on high-performing consumer segments.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202310"/>
            <a:ext cx="642580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6366F1"/>
                </a:solidFill>
                <a:latin typeface="Plus Jakarta Sans"/>
              </a:rPr>
              <a:t>Fulfillment Optimization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497585"/>
            <a:ext cx="6119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Streamline warehouse dispatching for Standard Class shipping.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8425" y="4202310"/>
            <a:ext cx="5743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Regional Market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4497585"/>
            <a:ext cx="57435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Investigate lower-performing regions to unlock demand.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962525" y="3124200"/>
            <a:ext cx="2266950" cy="581025"/>
          </a:xfrm>
          <a:prstGeom prst="rect">
            <a:avLst/>
          </a:prstGeom>
          <a:solidFill>
            <a:srgbClr val="CA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286000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700" y="2476500"/>
            <a:ext cx="228600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08314" y="3124200"/>
            <a:ext cx="2975371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Plus Jakarta San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62437" y="3857625"/>
            <a:ext cx="366712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Plus Jakarta Sans"/>
              </a:rPr>
              <a:t>Open for Discussion &amp;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20753" y="4400550"/>
            <a:ext cx="15597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Retail Sales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10225" y="4400550"/>
            <a:ext cx="3619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25728" y="4400550"/>
            <a:ext cx="23217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Python Data Analytics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130864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925365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76475" y="1346745"/>
            <a:ext cx="59412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https://miro.medium.com/v2/resize:fit:1400/1*_jbb6-TIVK2J6O_WCFYXIw.png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76475" y="1546770"/>
            <a:ext cx="1976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medium.com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