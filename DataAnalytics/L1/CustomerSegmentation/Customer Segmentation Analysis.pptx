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Space Grotesk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147cade0-950f-453f-9a1c-51ed158d80de.fntdata" /><ns0:Relationship Id="rIdFont21" Type="http://schemas.openxmlformats.org/officeDocument/2006/relationships/font" Target="fonts/0b354f28-a87a-479e-ae53-2c5fc6e469d7.fntdata" /><ns0:Relationship Id="rIdFont22" Type="http://schemas.openxmlformats.org/officeDocument/2006/relationships/font" Target="fonts/edbc8543-a783-4659-b364-f1967ec356f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197447"/>
            <a:ext cx="8096250" cy="1215330"/>
          </a:xfrm>
          <a:prstGeom prst="rect">
            <a:avLst/>
          </a:prstGeom>
          <a:solidFill>
            <a:srgbClr val="CA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638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20325" y="609600"/>
            <a:ext cx="1702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447"/>
            <a:ext cx="8601075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1" sz="4350" i="0" u="none">
                <a:solidFill>
                  <a:srgbClr val="0F172A"/>
                </a:solidFill>
                <a:latin typeface="Plus Jakarta Sans"/>
              </a:rPr>
              <a:t>Customer Segmentation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41377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Unlocking Behavioral Patterns and Value Clusters using RFM Modeling &amp; K-Means Unsupervised Machine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609600"/>
            <a:ext cx="3417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Space Grotesk"/>
              </a:rPr>
              <a:t>OIBSIP DATA ANALYTICS // LEVEL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867400"/>
            <a:ext cx="1190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48375"/>
            <a:ext cx="1190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Soniya Shaik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75" y="5867400"/>
            <a:ext cx="2381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1675" y="6048375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RFM + K-Means Clustering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3875" y="5867400"/>
            <a:ext cx="28694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3875" y="6048375"/>
            <a:ext cx="2869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E-Commerce &amp; Retail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87735"/>
            <a:ext cx="5257800" cy="1181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259335"/>
            <a:ext cx="5257800" cy="1181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630935"/>
            <a:ext cx="5257800" cy="1181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887735"/>
            <a:ext cx="38100" cy="1181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259335"/>
            <a:ext cx="38100" cy="1181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30935"/>
            <a:ext cx="38100" cy="1181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40135"/>
            <a:ext cx="52578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40135"/>
            <a:ext cx="52578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Addressing One-Size-Fits-All Marketing Inefficiencies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116335"/>
            <a:ext cx="6250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The Core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411610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Treating all retail customers uniformly leads to low conversion rates, wasted ad spend, and avoidable customer churn.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487935"/>
            <a:ext cx="6250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The Data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783210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Leverage historical transactional logs to automatically group customers based on actual purchasing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859535"/>
            <a:ext cx="6250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Strategic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154810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Enable highly targeted campaigns, maximize Customer Lifetime Value (CLV), and optimize marketing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6423"/>
            <a:ext cx="2328862" cy="2066925"/>
          </a:xfrm>
          <a:prstGeom prst="roundRect">
            <a:avLst>
              <a:gd name="adj" fmla="val 73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90912" y="2816423"/>
            <a:ext cx="2328862" cy="2066925"/>
          </a:xfrm>
          <a:prstGeom prst="roundRect">
            <a:avLst>
              <a:gd name="adj" fmla="val 73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2225" y="2816423"/>
            <a:ext cx="2328862" cy="2066925"/>
          </a:xfrm>
          <a:prstGeom prst="roundRect">
            <a:avLst>
              <a:gd name="adj" fmla="val 73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53537" y="2816423"/>
            <a:ext cx="2328862" cy="2066925"/>
          </a:xfrm>
          <a:prstGeom prst="roundRect">
            <a:avLst>
              <a:gd name="adj" fmla="val 73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09264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67137" y="309264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48450" y="309264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29762" y="309264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2" y="3754635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754635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754635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DATA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Data Pipeline &amp;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09264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587948"/>
            <a:ext cx="233154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921323"/>
            <a:ext cx="18716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Raw transaction log extraction containing InvoiceNo, Quantity, UnitPrice, and CustomerID.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4262" y="309264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137" y="3587948"/>
            <a:ext cx="233154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Cleaning &amp; Prep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137" y="3921323"/>
            <a:ext cx="18716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Removed 24.9% missing IDs, canceled orders, and negative quantity anomalies.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309264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450" y="3587948"/>
            <a:ext cx="233154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RFM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450" y="3921323"/>
            <a:ext cx="18716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Derived Recency (days), Frequency (orders), and Monetary Value (total expenditure).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6887" y="309264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9762" y="3587948"/>
            <a:ext cx="233154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Standardization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9762" y="3921323"/>
            <a:ext cx="18716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Log transformation and StandardScaler normalization to handle high skewness.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5485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35485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35485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35485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3548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35485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RFM Metrics Definition &amp;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316485"/>
            <a:ext cx="371475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Space Grotesk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35610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Recency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24993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Days since last purchase timestamp.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316485"/>
            <a:ext cx="371475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284C7"/>
                </a:solidFill>
                <a:latin typeface="Space Grotesk"/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935610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424993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Total count of completed transactions.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316485"/>
            <a:ext cx="371475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Space Grotesk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935610"/>
            <a:ext cx="3848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Monetary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24993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Cumulative net spend currency amount.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73485"/>
            <a:ext cx="6530280" cy="33528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97080" y="2783085"/>
            <a:ext cx="3985319" cy="962025"/>
          </a:xfrm>
          <a:prstGeom prst="roundRect">
            <a:avLst>
              <a:gd name="adj" fmla="val 118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7080" y="3935610"/>
            <a:ext cx="3985319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5375" y="3297435"/>
            <a:ext cx="1270694" cy="1714500"/>
          </a:xfrm>
          <a:prstGeom prst="roundRect">
            <a:avLst>
              <a:gd name="adj" fmla="val 299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4669" y="3964185"/>
            <a:ext cx="1270694" cy="1047750"/>
          </a:xfrm>
          <a:prstGeom prst="roundRect">
            <a:avLst>
              <a:gd name="adj" fmla="val 363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93964" y="4488060"/>
            <a:ext cx="1270694" cy="523875"/>
          </a:xfrm>
          <a:prstGeom prst="roundRect">
            <a:avLst>
              <a:gd name="adj" fmla="val 727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93258" y="4630935"/>
            <a:ext cx="1270694" cy="381000"/>
          </a:xfrm>
          <a:prstGeom prst="roundRect">
            <a:avLst>
              <a:gd name="adj" fmla="val 1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K-Means Cluster Optimization (k=4)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449710"/>
            <a:ext cx="747228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ELBOW METHOD: WCSS vs CLUSTER COUNT (K)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580" y="2973585"/>
            <a:ext cx="44044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Elbow Point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7580" y="3211710"/>
            <a:ext cx="369956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3A8A"/>
                </a:solidFill>
                <a:latin typeface="Plus Jakarta Sans"/>
              </a:rPr>
              <a:t>Inertia drop flattens significantly after K=4, indicating optimal variance explainability.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105" y="4135635"/>
            <a:ext cx="43948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Silhouette Score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7105" y="4373760"/>
            <a:ext cx="368051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Confirmed high cluster cohesion and minimal inter-cluster overlap at K=4.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1184" y="5088135"/>
            <a:ext cx="5048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K=2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0479" y="5088135"/>
            <a:ext cx="5048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K=3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6436" y="5088135"/>
            <a:ext cx="571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K=4*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9068" y="5088135"/>
            <a:ext cx="5048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K=5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1223"/>
            <a:ext cx="26289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121223"/>
            <a:ext cx="26289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121223"/>
            <a:ext cx="26289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121223"/>
            <a:ext cx="26289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368873"/>
            <a:ext cx="781050" cy="219075"/>
          </a:xfrm>
          <a:prstGeom prst="roundRect">
            <a:avLst>
              <a:gd name="adj" fmla="val 2608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29025" y="3368873"/>
            <a:ext cx="800100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10325" y="3368873"/>
            <a:ext cx="800100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91625" y="3368873"/>
            <a:ext cx="809625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CLUSTER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4 Distinct Customer Segments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406973"/>
            <a:ext cx="723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Plus Jakarta Sans"/>
              </a:rPr>
              <a:t>SEGMENT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02248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Champions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97523"/>
            <a:ext cx="2247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Recent spenders with highest transaction frequency.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5225" y="3406973"/>
            <a:ext cx="742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Plus Jakarta Sans"/>
              </a:rPr>
              <a:t>SEGMENT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3702248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Loyal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3997523"/>
            <a:ext cx="2247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Consistent order patterns with high basket sizes.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406973"/>
            <a:ext cx="742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SEGMENT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702248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At-Risk High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997523"/>
            <a:ext cx="2247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High historical spend with no recent activity.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825" y="3406973"/>
            <a:ext cx="752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SEGMENT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702248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Low-Engagement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3997523"/>
            <a:ext cx="2247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Infrequent purchases with low total monetary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664023"/>
          <a:ext cx="10972797" cy="23717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78694"/>
                <a:gridCol w="2270670"/>
                <a:gridCol w="2769393"/>
                <a:gridCol w="1653778"/>
                <a:gridCol w="2100262"/>
              </a:tblGrid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Segment Cluster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Avg Recency (Days)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Avg Frequency (Orders)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Avg Spend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Share of Revenue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Champions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12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18.4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$8,450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48%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Loyal Customers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34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7.2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$2,810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At-Risk Spenders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145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5.1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$2,100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Low-Engagement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210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1.2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$340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QUANTITATIVE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Cluster Metrics Comparison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STRATEGIC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Revenue Concentration Pareto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55343" y="2987873"/>
            <a:ext cx="2881312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2563EB"/>
                </a:solidFill>
                <a:latin typeface="Plus Jakarta Sans"/>
              </a:rPr>
              <a:t>77%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9859" y="4188023"/>
            <a:ext cx="106322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Total business revenue generated by top 2 segments (Champions &amp; Loyal Customers)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1218" y="4530923"/>
            <a:ext cx="7929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Validating the necessity of specialized retention campaigns over broad customer acquisition.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1160"/>
            <a:ext cx="53721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21160"/>
            <a:ext cx="53721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64185"/>
            <a:ext cx="53721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64185"/>
            <a:ext cx="53721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PRESCRIPTIVE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Tailored Marketing Activation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859285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VIP Loyalty Programs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154560"/>
            <a:ext cx="4991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Provide early product access and exclusive rewards to Champions to lock in retention.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2859285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Win-Back Email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154560"/>
            <a:ext cx="4991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Automate personalized discount incentives for At-Risk high spenders before total churn.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02310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Cross-Sell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497585"/>
            <a:ext cx="4991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Deliver tailored product recommendations to Loyal customers based on purchase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202310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Plus Jakarta Sans"/>
              </a:rPr>
              <a:t>Low-Cost Ad Retargeting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497585"/>
            <a:ext cx="4991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Minimize paid ad spend on Low-Engagement segment; utilize automated push notifications.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4073"/>
            <a:ext cx="3505200" cy="1571625"/>
          </a:xfrm>
          <a:prstGeom prst="roundRect">
            <a:avLst>
              <a:gd name="adj" fmla="val 9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64073"/>
            <a:ext cx="3505200" cy="1571625"/>
          </a:xfrm>
          <a:prstGeom prst="roundRect">
            <a:avLst>
              <a:gd name="adj" fmla="val 9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64073"/>
            <a:ext cx="3505200" cy="1571625"/>
          </a:xfrm>
          <a:prstGeom prst="roundRect">
            <a:avLst>
              <a:gd name="adj" fmla="val 9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3378398"/>
            <a:ext cx="33337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37839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300" y="3378398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Technologies &amp; Data Analytics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464" y="391179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Python 3.x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356" y="4168973"/>
            <a:ext cx="3595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Pandas &amp; NumPy data manipulation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8264" y="391179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Scikit-Learn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8156" y="4168973"/>
            <a:ext cx="3595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K-Means &amp; StandardScaler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2064" y="391179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Seaborn &amp; Plotly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1956" y="4168973"/>
            <a:ext cx="3595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Cluster visualizations &amp; 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357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7364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24517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230635"/>
            <a:ext cx="5257800" cy="323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30635"/>
            <a:ext cx="5257800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Next Steps &amp; Algorithmic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287357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473648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24517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873573"/>
            <a:ext cx="58257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Predictive Churn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111698"/>
            <a:ext cx="554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Integrate XGBoost supervised models to forecast churn risk probability.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473648"/>
            <a:ext cx="6250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Real-Time Pipeline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711773"/>
            <a:ext cx="485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Deploy model endpoints to automatically assign segment tags to new transactions.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245173"/>
            <a:ext cx="6250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CLV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483298"/>
            <a:ext cx="485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Incorporate probabilistic BG/NBD models to estimate long-term monetary lifetime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62525" y="3124200"/>
            <a:ext cx="2266950" cy="581025"/>
          </a:xfrm>
          <a:prstGeom prst="rect">
            <a:avLst/>
          </a:prstGeom>
          <a:solidFill>
            <a:srgbClr val="CA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2476500"/>
            <a:ext cx="2857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08314" y="3124200"/>
            <a:ext cx="29753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4750" y="3857625"/>
            <a:ext cx="4762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Open for Questions &amp; Strategic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2900" y="4400550"/>
            <a:ext cx="10763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Soniya Shaik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2075" y="4400550"/>
            <a:ext cx="361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5190" y="4400550"/>
            <a:ext cx="2845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OIBSIP Data Analytics Level 1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1100" y="124197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1100" y="200397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1100" y="200397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38484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19447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92536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475" y="1422945"/>
            <a:ext cx="5381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https://media.finebi.com/strapi/executive_dashboard_7ff806faa0.png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6475" y="1622970"/>
            <a:ext cx="2393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www.fanruan.com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475" y="2156370"/>
            <a:ext cx="882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https://jame.scholasticahq.com/article/157562-rfm-based-customer-segmentation-a-pedagogical-case-study-for-marketing-analytics-education/attachment/330427.png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75" y="2508795"/>
            <a:ext cx="3000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jame.scholasticahq.com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