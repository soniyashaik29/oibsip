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</ns0:sldIdLst>
  <ns0:sldSz cx="12192000" cy="6858000" type="screen4x3"/>
  <ns0:notesSz cx="6858000" cy="9144000"/>
  <ns0:embeddedFontLst>
    <ns0:embeddedFont>
      <ns0:font typeface="JetBrains Mono"/>
      <ns0:regular ns1:id="rIdFont13"/>
    </ns0:embeddedFont>
    <ns0:embeddedFont>
      <ns0:font typeface="Inter"/>
      <ns0:bold ns1:id="rIdFont14"/>
      <ns0:regular ns1:id="rIdFont15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Font13" Type="http://schemas.openxmlformats.org/officeDocument/2006/relationships/font" Target="fonts/2c1f47ad-4536-4b2c-9b8b-1f6892294d8d.fntdata" /><ns0:Relationship Id="rIdFont14" Type="http://schemas.openxmlformats.org/officeDocument/2006/relationships/font" Target="fonts/e5f0b630-5711-4d72-8257-0df6d0fd3db1.fntdata" /><ns0:Relationship Id="rIdFont15" Type="http://schemas.openxmlformats.org/officeDocument/2006/relationships/font" Target="fonts/c90f44d4-c129-4a1a-b8ed-d77b7ea63aa5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3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62000" y="5791200"/>
            <a:ext cx="106680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62000" y="5791200"/>
            <a:ext cx="10668000" cy="9525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62000" y="609600"/>
            <a:ext cx="2781300" cy="295275"/>
          </a:xfrm>
          <a:prstGeom prst="roundRect">
            <a:avLst>
              <a:gd name="adj" fmla="val 50000"/>
            </a:avLst>
          </a:prstGeom>
          <a:solidFill>
            <a:srgbClr val="16344E"/>
          </a:solidFill>
          <a:ln w="9525">
            <a:solidFill>
              <a:srgbClr val="214F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6072187"/>
            <a:ext cx="171450" cy="1714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0325" y="6072187"/>
            <a:ext cx="171450" cy="1714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52900" y="6072187"/>
            <a:ext cx="171450" cy="1714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62000" y="1133475"/>
            <a:ext cx="9101137" cy="11391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b="1" sz="3900" i="0" u="none">
                <a:solidFill>
                  <a:srgbClr val="F8FAFC"/>
                </a:solidFill>
                <a:latin typeface="Inter"/>
              </a:rPr>
              <a:t>Credit Card Fraud Detection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463105"/>
            <a:ext cx="73342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94A3B8"/>
                </a:solidFill>
                <a:latin typeface="Inter"/>
              </a:rPr>
              <a:t>Exploratory Data Analysis, Model Diagnostics, and Feature Importance Evaluation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10800" y="6072187"/>
            <a:ext cx="1524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JetBrains Mono"/>
              </a:rPr>
              <a:t>6-Slide Overview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5350" y="666750"/>
            <a:ext cx="260985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Inter"/>
              </a:rPr>
              <a:t>DATA ANALYTICS LEVEL 2 PROJECT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676275"/>
            <a:ext cx="1452562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4A3B8"/>
                </a:solidFill>
                <a:latin typeface="Inter"/>
              </a:rPr>
              <a:t>OIBSIP Repository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8700" y="6067425"/>
            <a:ext cx="1583531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CBD5E1"/>
                </a:solidFill>
                <a:latin typeface="Inter"/>
              </a:rPr>
              <a:t>EDA &amp; Diagnostics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67025" y="6067425"/>
            <a:ext cx="126682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CBD5E1"/>
                </a:solidFill>
                <a:latin typeface="Inter"/>
              </a:rPr>
              <a:t>ML Classifiers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19600" y="6067425"/>
            <a:ext cx="1500187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CBD5E1"/>
                </a:solidFill>
                <a:latin typeface="Inter"/>
              </a:rPr>
              <a:t>Fraud Mitigations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877550" y="457200"/>
            <a:ext cx="704850" cy="266700"/>
          </a:xfrm>
          <a:prstGeom prst="roundRect">
            <a:avLst>
              <a:gd name="adj" fmla="val 21428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5354984"/>
            <a:ext cx="5372100" cy="68193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210300" y="5261669"/>
            <a:ext cx="5372100" cy="86856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5354984"/>
            <a:ext cx="38100" cy="68193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0300" y="5261669"/>
            <a:ext cx="38100" cy="86856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621184"/>
            <a:ext cx="5372100" cy="36195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0300" y="1527869"/>
            <a:ext cx="5372100" cy="3619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25" y="1630709"/>
            <a:ext cx="5353050" cy="36004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9825" y="1537394"/>
            <a:ext cx="5353050" cy="36004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991850" y="514350"/>
            <a:ext cx="571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475569"/>
                </a:solidFill>
                <a:latin typeface="Inter"/>
              </a:rPr>
              <a:t>Slide 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457200"/>
            <a:ext cx="7834312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DATA PROFILE &amp; IMBALANCE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657225"/>
            <a:ext cx="8226028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Class Distribution &amp; Transaction Amounts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9150" y="5488334"/>
            <a:ext cx="6550818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Extreme Imbalance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9150" y="5716934"/>
            <a:ext cx="6238875" cy="18663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475569"/>
                </a:solidFill>
                <a:latin typeface="Inter"/>
              </a:rPr>
              <a:t>Fraud cases form an extreme minority relative to legitimate volume.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850" y="5395019"/>
            <a:ext cx="577215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Low Value Clustering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850" y="5623619"/>
            <a:ext cx="5086350" cy="373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475569"/>
                </a:solidFill>
                <a:latin typeface="Inter"/>
              </a:rPr>
              <a:t>Fraudulent and genuine transactions heavily aggregate at lower monetary values.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877550" y="457200"/>
            <a:ext cx="704850" cy="266700"/>
          </a:xfrm>
          <a:prstGeom prst="roundRect">
            <a:avLst>
              <a:gd name="adj" fmla="val 21428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5354984"/>
            <a:ext cx="5372100" cy="68193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210300" y="5354984"/>
            <a:ext cx="5372100" cy="68193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5354984"/>
            <a:ext cx="38100" cy="68193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0300" y="5354984"/>
            <a:ext cx="38100" cy="68193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621184"/>
            <a:ext cx="5372100" cy="36195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0300" y="1621184"/>
            <a:ext cx="5372100" cy="3619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25" y="1630709"/>
            <a:ext cx="5353050" cy="36004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9825" y="1630709"/>
            <a:ext cx="5353050" cy="36004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991850" y="514350"/>
            <a:ext cx="571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475569"/>
                </a:solidFill>
                <a:latin typeface="Inter"/>
              </a:rPr>
              <a:t>Slide 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457200"/>
            <a:ext cx="7405687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TIME-SERIES INSIGHTS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657225"/>
            <a:ext cx="7775971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Activity Dynamics vs Fraud Rate Spikes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9150" y="5488334"/>
            <a:ext cx="6550818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24-Hour Diurnal Cyclicality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9150" y="5716934"/>
            <a:ext cx="6238875" cy="18663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475569"/>
                </a:solidFill>
                <a:latin typeface="Inter"/>
              </a:rPr>
              <a:t>Legitimate volume displays predictable daily periodic waves.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850" y="5488334"/>
            <a:ext cx="577215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Off-Peak Risk Concentration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850" y="5716934"/>
            <a:ext cx="5772150" cy="18663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475569"/>
                </a:solidFill>
                <a:latin typeface="Inter"/>
              </a:rPr>
              <a:t>Fraud percentage spikes dramatically (&gt;2%) during low-traffic sleeping hours.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868025" y="457200"/>
            <a:ext cx="714375" cy="266700"/>
          </a:xfrm>
          <a:prstGeom prst="roundRect">
            <a:avLst>
              <a:gd name="adj" fmla="val 21428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5354984"/>
            <a:ext cx="5372100" cy="68193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210300" y="5354984"/>
            <a:ext cx="5372100" cy="68193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5354984"/>
            <a:ext cx="38100" cy="68193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0300" y="5354984"/>
            <a:ext cx="38100" cy="68193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621184"/>
            <a:ext cx="5372100" cy="36195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0300" y="1621184"/>
            <a:ext cx="5372100" cy="3619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25" y="1630709"/>
            <a:ext cx="5353050" cy="36004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9825" y="1630709"/>
            <a:ext cx="5353050" cy="36004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982325" y="514350"/>
            <a:ext cx="5810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475569"/>
                </a:solidFill>
                <a:latin typeface="Inter"/>
              </a:rPr>
              <a:t>Slide 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457200"/>
            <a:ext cx="8310562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MODEL EVALUATION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657225"/>
            <a:ext cx="872609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ROC Curves &amp; Confusion Matrix Diagnostics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9150" y="5488334"/>
            <a:ext cx="6550818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High Discrimination Ability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9150" y="5716934"/>
            <a:ext cx="6238875" cy="18663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475569"/>
                </a:solidFill>
                <a:latin typeface="Inter"/>
              </a:rPr>
              <a:t>Logistic Regression (AUC 0.971) and Random Forest (AUC 0.964) both excel.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850" y="5488334"/>
            <a:ext cx="577215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False Positive Reduction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850" y="5716934"/>
            <a:ext cx="5772150" cy="18663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475569"/>
                </a:solidFill>
                <a:latin typeface="Inter"/>
              </a:rPr>
              <a:t>Random Forest drastically suppresses false alarms (16 vs 1,467 cases).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877550" y="457200"/>
            <a:ext cx="704850" cy="266700"/>
          </a:xfrm>
          <a:prstGeom prst="roundRect">
            <a:avLst>
              <a:gd name="adj" fmla="val 21428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22790" y="2400300"/>
            <a:ext cx="4259609" cy="1352550"/>
          </a:xfrm>
          <a:prstGeom prst="roundRect">
            <a:avLst>
              <a:gd name="adj" fmla="val 704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22790" y="3905250"/>
            <a:ext cx="4259609" cy="1352550"/>
          </a:xfrm>
          <a:prstGeom prst="roundRect">
            <a:avLst>
              <a:gd name="adj" fmla="val 704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781175"/>
            <a:ext cx="6408390" cy="40957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" y="1790700"/>
            <a:ext cx="6389340" cy="4076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0915" y="2652712"/>
            <a:ext cx="171450" cy="1714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0915" y="4157662"/>
            <a:ext cx="190500" cy="1714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991850" y="514350"/>
            <a:ext cx="571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475569"/>
                </a:solidFill>
                <a:latin typeface="Inter"/>
              </a:rPr>
              <a:t>Slide 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457200"/>
            <a:ext cx="8393906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FEATURE IMPORTANCE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57225"/>
            <a:ext cx="8813601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Top 10 Feature Importances (Random Forest)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60915" y="2914650"/>
            <a:ext cx="3878609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475569"/>
                </a:solidFill>
                <a:latin typeface="Inter"/>
              </a:rPr>
              <a:t>V14 carries overwhelmingly heavy weight (&gt;0.21 importance), acting as the central decision pivot for detecting anomalies.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60915" y="4419600"/>
            <a:ext cx="3878609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475569"/>
                </a:solidFill>
                <a:latin typeface="Inter"/>
              </a:rPr>
              <a:t>Transformed features V10, V4, V12, and V17 represent secondary decision nodes crucial for classifying subtle fraud patterns.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27615" y="2638425"/>
            <a:ext cx="2112764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Primary Driver: V14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46665" y="4143375"/>
            <a:ext cx="193774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Core PCA Factors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3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62000" y="5848350"/>
            <a:ext cx="10668000" cy="4000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62000" y="5848350"/>
            <a:ext cx="10668000" cy="9525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62000" y="1666875"/>
            <a:ext cx="5181600" cy="2076450"/>
          </a:xfrm>
          <a:prstGeom prst="roundRect">
            <a:avLst>
              <a:gd name="adj" fmla="val 5504"/>
            </a:avLst>
          </a:prstGeom>
          <a:solidFill>
            <a:srgbClr val="232B3D"/>
          </a:solidFill>
          <a:ln w="9525">
            <a:solidFill>
              <a:srgbClr val="2E36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48400" y="1666875"/>
            <a:ext cx="5181600" cy="2076450"/>
          </a:xfrm>
          <a:prstGeom prst="roundRect">
            <a:avLst>
              <a:gd name="adj" fmla="val 5504"/>
            </a:avLst>
          </a:prstGeom>
          <a:solidFill>
            <a:srgbClr val="232B3D"/>
          </a:solidFill>
          <a:ln w="9525">
            <a:solidFill>
              <a:srgbClr val="2E36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325" y="1981200"/>
            <a:ext cx="45720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2725" y="1981200"/>
            <a:ext cx="457200" cy="4572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0150" y="2105025"/>
            <a:ext cx="209550" cy="2095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6550" y="2105025"/>
            <a:ext cx="209550" cy="2095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62000" y="609600"/>
            <a:ext cx="114300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Inter"/>
              </a:rPr>
              <a:t>SUMMARY &amp; NEXT STEPS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847725"/>
            <a:ext cx="114300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F8FAFC"/>
                </a:solidFill>
                <a:latin typeface="Inter"/>
              </a:rPr>
              <a:t>Strategic Recommendations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6086475"/>
            <a:ext cx="2893218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Credit Card Fraud Detection Analysis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34600" y="6086475"/>
            <a:ext cx="161925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Inter"/>
              </a:rPr>
              <a:t>End of Presentation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6325" y="2590800"/>
            <a:ext cx="5975746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8FAFC"/>
                </a:solidFill>
                <a:latin typeface="Inter"/>
              </a:rPr>
              <a:t>Deploy Random Forest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6325" y="2971800"/>
            <a:ext cx="4648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94A3B8"/>
                </a:solidFill>
                <a:latin typeface="Inter"/>
              </a:rPr>
              <a:t>Provides superior operational precision with only 16 false positives, preventing user friction while maintaining high recall.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2725" y="2590800"/>
            <a:ext cx="562927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8FAFC"/>
                </a:solidFill>
                <a:latin typeface="Inter"/>
              </a:rPr>
              <a:t>Dynamic Risk Thresholds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62725" y="2971800"/>
            <a:ext cx="4648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94A3B8"/>
                </a:solidFill>
                <a:latin typeface="Inter"/>
              </a:rPr>
              <a:t>Apply stricter time-sensitive risk scoring during off-peak morning hours when fraud rates spike above 2%.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